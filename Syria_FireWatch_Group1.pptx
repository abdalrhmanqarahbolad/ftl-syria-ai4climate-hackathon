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MiSans" pitchFamily="0" charset="0"/>
        <a:ea typeface="MiSans" pitchFamily="0" charset="0"/>
        <a:cs typeface="Mi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90945456" val="1068" rev64="64" revOS="4"/>
      <pr:smFileRevision xmlns:pr="smNativeData" xmlns="smNativeData" dt="1790945456" val="0"/>
      <pr:guideOptions xmlns:pr="smNativeData" xmlns="smNativeData" dt="1790945456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74" d="100"/>
          <a:sy n="74" d="100"/>
        </p:scale>
        <p:origin x="1184" y="214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5" d="100"/>
        <a:sy n="15" d="100"/>
      </p:scale>
      <p:origin x="0" y="0"/>
    </p:cViewPr>
  </p:sorterViewPr>
  <p:notesViewPr>
    <p:cSldViewPr snapToGrid="0" snapToObjects="1">
      <p:cViewPr>
        <p:scale>
          <a:sx n="74" d="100"/>
          <a:sy n="74" d="100"/>
        </p:scale>
        <p:origin x="1184" y="214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purple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Rhfe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Lw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CslUQJ/f38A8/T2A8zMzADAwP8Af39/AAAAAAAAAAAAAAAAAAAAAAAAAAAAIQAAABgAAAAUAAAA7v///z4IAAAASwAASioAABAAAAAmAAAACAAAAP//////////MAAAABQAAAAAAAAAAAD//wAAAQAAAP//AAABAA=="/>
              </a:ext>
            </a:extLst>
          </p:cNvSpPr>
          <p:nvPr/>
        </p:nvSpPr>
        <p:spPr>
          <a:xfrm>
            <a:off x="-11430" y="1339850"/>
            <a:ext cx="12203430" cy="5534660"/>
          </a:xfrm>
          <a:prstGeom prst="rect">
            <a:avLst/>
          </a:prstGeom>
          <a:solidFill>
            <a:srgbClr val="4617DE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pic>
        <p:nvPicPr>
          <p:cNvPr id="3" name="logo-a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cTOF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BQ+AABiAgAASkUAAOgFAAAQ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0091420" y="387350"/>
            <a:ext cx="1172210" cy="5727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logo-b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Byb3Nv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C43AADSAQAAFD0AAFYG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70010" y="295910"/>
            <a:ext cx="958850" cy="7340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logo-c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NAH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ZGAACkAAAA0kkAADIHAAAQ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11474450" y="104140"/>
            <a:ext cx="525780" cy="10655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logo-d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cgUAAJAHAAByBQAAkAcAAAAAAABkAAAAZAAAAAAAAAAjAAAABAAAAGQAAAAXAAAAFAAAAAAAAAAAAAAA/38AAP9/AAAAAAAACQAAAAQAAAByA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AQxAACMAQAAmjYAAEoGAAAQAAAAJgAAAAgAAAD//////////zAAAAAUAAAAAAAAAAAA//8AAAEAAAD//wAAAQA="/>
              </a:ext>
            </a:extLst>
          </p:cNvPicPr>
          <p:nvPr/>
        </p:nvPicPr>
        <p:blipFill>
          <a:blip r:embed="rId5"/>
          <a:srcRect l="13940" t="19360" r="13940" b="19360"/>
          <a:stretch>
            <a:fillRect/>
          </a:stretch>
        </p:blipFill>
        <p:spPr>
          <a:xfrm>
            <a:off x="7967980" y="251460"/>
            <a:ext cx="908050" cy="7708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ftl-logo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HgFAACsDQAAABkAAKIgAAAQAAAAJgAAAAgAAAD//////////zAAAAAUAAAAAAAAAAAA//8AAAEAAAD//wAAAQA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2222500"/>
            <a:ext cx="3175000" cy="30822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red-bar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/i5F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CO1JL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i5FAP7//gEAAAAAAAAAAAAAAAAAAAAAAAAAAAAAAAAAAAAAAAAAACslUQJ/f38A8/T2A8zMzADAwP8Af39/AAAAAAAAAAAAAAAAAAAAAAAAAAAAIQAAABgAAAAUAAAAoB4AAPwSAADQLwAAxBMAABAAAAAmAAAACAAAAP//////////MAAAABQAAAAAAAAAAAD//wAAAQAAAP//AAABAA=="/>
              </a:ext>
            </a:extLst>
          </p:cNvSpPr>
          <p:nvPr/>
        </p:nvSpPr>
        <p:spPr>
          <a:xfrm>
            <a:off x="4978400" y="3086100"/>
            <a:ext cx="2794000" cy="127000"/>
          </a:xfrm>
          <a:prstGeom prst="rect">
            <a:avLst/>
          </a:prstGeom>
          <a:solidFill>
            <a:srgbClr val="FE2E45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9" name="title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NPC1M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sB0AAIAMAADgRwAAwBIAABAgAAAmAAAACAAAAP//////////MAAAABQAAAAAAAAAAAD//wAAAQAAAP//AAABAA=="/>
              </a:ext>
            </a:extLst>
          </p:cNvSpPr>
          <p:nvPr/>
        </p:nvSpPr>
        <p:spPr>
          <a:xfrm>
            <a:off x="4826000" y="2032000"/>
            <a:ext cx="6858000" cy="101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5600" b="1" cap="none" noProof="1">
                <a:solidFill>
                  <a:srgbClr val="FFFFFF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Syria FireWatch</a:t>
            </a:r>
            <a:endParaRPr sz="5600" cap="none" noProof="1"/>
          </a:p>
        </p:txBody>
      </p:sp>
      <p:sp>
        <p:nvSpPr>
          <p:cNvPr id="10" name="subtitle"/>
          <p:cNvSpPr>
            <a:extLst>
              <a:ext uri="smNativeData">
                <pr:smNativeData xmlns:pr="smNativeData" xmlns="smNativeData" val="SMDATA_16_sKi/ahMAAAAlAAAAZAAAAA0AAAAAAAAAAAAAAAAAAAAAA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IvAjM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2B0AAPAUAAAISAAAaBoAABAAAAAmAAAACAAAAP//////////MAAAABQAAAAAAAAAAAD//wAAAQAAAP//AAABAA=="/>
              </a:ext>
            </a:extLst>
          </p:cNvSpPr>
          <p:nvPr/>
        </p:nvSpPr>
        <p:spPr>
          <a:xfrm>
            <a:off x="4851400" y="3403600"/>
            <a:ext cx="6858000" cy="889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ct val="125000"/>
              </a:lnSpc>
            </a:pPr>
            <a:r>
              <a:rPr sz="2000" cap="none" noProof="1">
                <a:solidFill>
                  <a:srgbClr val="FFFFFF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Predicting dangerous fire days from daily weather on the Syrian coast (Latakia &amp; Tartus)</a:t>
            </a:r>
            <a:endParaRPr sz="2000" cap="none" noProof="1"/>
          </a:p>
        </p:txBody>
      </p:sp>
      <p:sp>
        <p:nvSpPr>
          <p:cNvPr id="11" name="group"/>
          <p:cNvSpPr>
            <a:extLst>
              <a:ext uri="smNativeData">
                <pr:smNativeData xmlns:pr="smNativeData" xmlns="smNativeData" val="SMDATA_16_sKi/ahMAAAAlAAAAZAAAAA0AAAAAAAAAAAAAAAAAAAAAA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BPVFN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2B0AALAdAAAISAAAuCQAAAAAAAAmAAAACAAAAP//////////MAAAABQAAAAAAAAAAAD//wAAAQAAAP//AAABAA=="/>
              </a:ext>
            </a:extLst>
          </p:cNvSpPr>
          <p:nvPr/>
        </p:nvSpPr>
        <p:spPr>
          <a:xfrm>
            <a:off x="4851400" y="4826000"/>
            <a:ext cx="68580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400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Group 1</a:t>
            </a:r>
            <a:br/>
            <a:r>
              <a:rPr sz="1400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Climate Challenge: Climate Risks and Natural Hazards (Wildfire)</a:t>
            </a:r>
            <a:br/>
            <a:r>
              <a:rPr sz="1400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Team members:yousef algazali -Amjad Shykhani -Bayan Alhindaoui</a:t>
            </a:r>
            <a:endParaRPr sz="1400" cap="none">
              <a:solidFill>
                <a:srgbClr val="FFFFF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400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AbdAlrhman QarahBolad -Mahmoud Mawed-Razan Rai Albalha</a:t>
            </a:r>
            <a:endParaRPr sz="1400" cap="none">
              <a:solidFill>
                <a:srgbClr val="FFFFF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defRPr sz="1400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defRPr>
            </a:pPr>
            <a:r>
              <a:t>  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endParaRPr sz="2400" cap="none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tl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NgCAAAYAwAAvg4AAAoEAAAQ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502920"/>
            <a:ext cx="1934210" cy="1536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logo-a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G4+AADAAQAA6kQAAPQE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0" y="284480"/>
            <a:ext cx="1054100" cy="5207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logo-b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g4AABkAQAAqD0AAEAFAAAQ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9199880" y="226060"/>
            <a:ext cx="822960" cy="62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logo-c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LhFAAAcAQAA6kcAAJoFAAAQAAAAJgAAAAgAAAD//////////zAAAAAUAAAAAAAAAAAA//8AAAEAAAD//wAAAQA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11333480" y="180340"/>
            <a:ext cx="356870" cy="7302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logo-d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cgUAAJAHAAByBQAAkAc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KgzAABkAQAAyjcAAPAEAAAQAAAAJgAAAAgAAAD//////////zAAAAAUAAAAAAAAAAAA//8AAAEAAAD//wAAAQA="/>
              </a:ext>
            </a:extLst>
          </p:cNvPicPr>
          <p:nvPr/>
        </p:nvPicPr>
        <p:blipFill>
          <a:blip r:embed="rId6"/>
          <a:srcRect l="13940" t="19360" r="13940" b="19360"/>
          <a:stretch>
            <a:fillRect/>
          </a:stretch>
        </p:blipFill>
        <p:spPr>
          <a:xfrm>
            <a:off x="8397240" y="226060"/>
            <a:ext cx="671830" cy="576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Ovb7N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gQAAE4KAAB6PAAA0g0AABAAAAAmAAAACAAAAP//////////MAAAABQAAAAAAAAAAAD//wAAAQAAAP//AAABAA=="/>
              </a:ext>
            </a:extLst>
          </p:cNvSpPr>
          <p:nvPr/>
        </p:nvSpPr>
        <p:spPr>
          <a:xfrm>
            <a:off x="687070" y="1675130"/>
            <a:ext cx="9144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Climate Problem &amp; Research Question</a:t>
            </a:r>
            <a:endParaRPr sz="3350" cap="none" noProof="1"/>
          </a:p>
        </p:txBody>
      </p:sp>
      <p:sp>
        <p:nvSpPr>
          <p:cNvPr id="8" name="problem-head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DPeNN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LgQAACgRgAAwBIAABAAAAAmAAAACAAAAP//////////MAAAABQAAAAAAAAAAAD//wAAAQAAAP//AAABAA=="/>
              </a:ext>
            </a:extLst>
          </p:cNvSpPr>
          <p:nvPr/>
        </p:nvSpPr>
        <p:spPr>
          <a:xfrm>
            <a:off x="685800" y="2717800"/>
            <a:ext cx="10795000" cy="33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b="1" cap="none" noProof="1">
                <a:solidFill>
                  <a:srgbClr val="4617DE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The problem</a:t>
            </a:r>
            <a:endParaRPr cap="none" noProof="1"/>
          </a:p>
        </p:txBody>
      </p:sp>
      <p:sp>
        <p:nvSpPr>
          <p:cNvPr id="9" name="problem-body"/>
          <p:cNvSpPr>
            <a:extLst>
              <a:ext uri="smNativeData">
                <pr:smNativeData xmlns:pr="smNativeData" xmlns="smNativeData" val="SMDATA_16_sKi/ahMAAAAlAAAAZAAAAA0AAAAAAAAAAAAAAAAAAAAAA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HvgfO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OgSAACgRgAAgBsAABAAAAAmAAAACAAAAP//////////MAAAABQAAAAAAAAAAAD//wAAAQAAAP//AAABAA=="/>
              </a:ext>
            </a:extLst>
          </p:cNvSpPr>
          <p:nvPr/>
        </p:nvSpPr>
        <p:spPr>
          <a:xfrm>
            <a:off x="685800" y="3073400"/>
            <a:ext cx="10795000" cy="1397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ct val="130000"/>
              </a:lnSpc>
              <a:spcBef>
                <a:spcPts val="500"/>
              </a:spcBef>
              <a:buChar char="•"/>
            </a:pPr>
            <a:r>
              <a:rPr sz="150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Wildfire risk along the Syrian coast may increase during periods of high temperature, low humidity, strong winds, and low rainfall.</a:t>
            </a:r>
            <a:endParaRPr sz="1500" cap="none" noProof="1"/>
          </a:p>
          <a:p>
            <a:pPr algn="l">
              <a:lnSpc>
                <a:spcPct val="130000"/>
              </a:lnSpc>
              <a:spcBef>
                <a:spcPts val="500"/>
              </a:spcBef>
              <a:buChar char="•"/>
            </a:pPr>
            <a:r>
              <a:rPr sz="150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However, the relationship between these weather conditions and actual fire activity has not been clearly measured for the region.</a:t>
            </a:r>
            <a:endParaRPr sz="1500" cap="none" noProof="1"/>
          </a:p>
          <a:p>
            <a:pPr algn="l">
              <a:lnSpc>
                <a:spcPct val="130000"/>
              </a:lnSpc>
              <a:spcBef>
                <a:spcPts val="500"/>
              </a:spcBef>
              <a:buChar char="•"/>
            </a:pPr>
            <a:r>
              <a:rPr sz="150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We combine satellite fire detections with daily weather data from Latakia and Tartus to find the conditions behind fire events and how fire activity changes over time.</a:t>
            </a:r>
            <a:endParaRPr sz="1500" cap="none" noProof="1"/>
          </a:p>
        </p:txBody>
      </p:sp>
      <p:sp>
        <p:nvSpPr>
          <p:cNvPr id="10" name="rq-box"/>
          <p:cNvSpPr>
            <a:extLst>
              <a:ext uri="smNativeData">
                <pr:smNativeData xmlns:pr="smNativeData" xmlns="smNativeData" val="SMDATA_16_sKi/ahMAAAAlAAAAZQAAAA0AAAAAkAAAAEgAAACQAAAASAAAAAAAAAAAAAAAAAAAAAEAAABQAAAAexSuR+F6xD8AAAAAAADwvwAAAAAAAOA/AAAAAAAA4D8AAAAAAADgPwAAAAAAAOA/AAAAAAAA4D8AAAAAAADgPwAAAAAAAOA/AAAAAAAA4D8CAAAAjAAAAAEAAAAAAAAA8u/+AP7//ggAAAAAAAAAAAAAAAAAAAAAAAAAAAAAAAAAAAAAeAAAAAEAAABAAAAAAAAAAAAAAABaAAAAAAAAAAAAAAAAAAAAAAAAAAAAAAAAAAAAAAAAAAAAAAAAAAAAAAAAAAAAAAAAAAAAAAAAAAAAAAAAAAAAAAAAAAAAAAAAAAAAFAAAADwAAAABAAAAAAAAAEYX3gAo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MPixO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u/+AP7//gEAAAAAAAAAAAAAAAAAAAAAAAAAAAAAAAAAAAAAAAAAAEYX3gB/f38A8/T2A8zMzADAwP8Af39/AAAAAAAAAAAAAAAAAAAAAAAAAAAAIQAAABgAAAAUAAAAOAQAAEAfAADIRgAAcCYAABAAAAAmAAAACAAAAP//////////MAAAABQAAAAAAAAAAAD//wAAAQAAAP//AAABAA=="/>
              </a:ext>
            </a:extLst>
          </p:cNvSpPr>
          <p:nvPr/>
        </p:nvSpPr>
        <p:spPr>
          <a:xfrm>
            <a:off x="685800" y="5080000"/>
            <a:ext cx="10820400" cy="1168400"/>
          </a:xfrm>
          <a:prstGeom prst="roundRect">
            <a:avLst>
              <a:gd name="adj" fmla="val 8000"/>
            </a:avLst>
          </a:prstGeom>
          <a:solidFill>
            <a:srgbClr val="F2EFFE"/>
          </a:solidFill>
          <a:ln w="25400" cap="flat" cmpd="sng" algn="ctr">
            <a:solidFill>
              <a:srgbClr val="4617DE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rq-label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Lw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QAYAADAgAADARAAAECIAABAAAAAmAAAACAAAAP//////////MAAAABQAAAAAAAAAAAD//wAAAQAAAP//AAABAA=="/>
              </a:ext>
            </a:extLst>
          </p:cNvSpPr>
          <p:nvPr/>
        </p:nvSpPr>
        <p:spPr>
          <a:xfrm>
            <a:off x="1016000" y="5232400"/>
            <a:ext cx="10160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500" b="1" cap="none" noProof="1">
                <a:solidFill>
                  <a:srgbClr val="FE2E45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Main research question</a:t>
            </a:r>
            <a:endParaRPr sz="1500" cap="none" noProof="1"/>
          </a:p>
        </p:txBody>
      </p:sp>
      <p:sp>
        <p:nvSpPr>
          <p:cNvPr id="12" name="rq-text"/>
          <p:cNvSpPr>
            <a:extLst>
              <a:ext uri="smNativeData">
                <pr:smNativeData xmlns:pr="smNativeData" xmlns="smNativeData" val="SMDATA_16_sKi/ahMAAAAlAAAAZAAAAA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CN+JH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QAYAADgiAADARAAA0CUAAAAAAAAmAAAACAAAAP//////////MAAAABQAAAAAAAAAAAD//wAAAQAAAP//AAABAA=="/>
              </a:ext>
            </a:extLst>
          </p:cNvSpPr>
          <p:nvPr/>
        </p:nvSpPr>
        <p:spPr>
          <a:xfrm>
            <a:off x="1016000" y="5562600"/>
            <a:ext cx="101600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>
              <a:lnSpc>
                <a:spcPct val="130000"/>
              </a:lnSpc>
              <a:defRPr sz="170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defRPr>
            </a:pPr>
            <a:r>
              <a:t>Which weather conditions are most associated with satellite-detected fire days, and have high risk wildfire days increased over time? </a:t>
            </a:r>
          </a:p>
        </p:txBody>
      </p:sp>
      <p:sp>
        <p:nvSpPr>
          <p:cNvPr id="13" name="footer-bar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Rhfe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JP5lP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CslUQJ/f38A8/T2A8zMzADAwP8Af39/AAAAAAAAAAAAAAAAAAAAAAAAAAAAIQAAABgAAAAUAAAA/P////4oAAAiSwAAfioAABAAAAAmAAAACAAAAP//////////MAAAABQAAAAAAAAAAAD//wAAAQAAAP//AAABAA=="/>
              </a:ext>
            </a:extLst>
          </p:cNvSpPr>
          <p:nvPr/>
        </p:nvSpPr>
        <p:spPr>
          <a:xfrm>
            <a:off x="-2540" y="6663690"/>
            <a:ext cx="12216130" cy="243840"/>
          </a:xfrm>
          <a:prstGeom prst="rect">
            <a:avLst/>
          </a:prstGeom>
          <a:solidFill>
            <a:srgbClr val="4617DE"/>
          </a:solidFill>
          <a:ln>
            <a:noFill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tl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NgCAAAYAwAAvg4AAAoEAAAQ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502920"/>
            <a:ext cx="1934210" cy="1536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logo-a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G4+AADAAQAA6kQAAPQE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0" y="284480"/>
            <a:ext cx="1054100" cy="5207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logo-b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g4AABkAQAAqD0AAEAFAAAQ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9199880" y="226060"/>
            <a:ext cx="822960" cy="62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logo-c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LhFAAAcAQAA6kcAAJoFAAAQAAAAJgAAAAgAAAD//////////zAAAAAUAAAAAAAAAAAA//8AAAEAAAD//wAAAQA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11333480" y="180340"/>
            <a:ext cx="356870" cy="7302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logo-d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cgUAAJAHAAByBQAAkAc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KgzAABkAQAAyjcAAPAEAAAQAAAAJgAAAAgAAAD//////////zAAAAAUAAAAAAAAAAAA//8AAAEAAAD//wAAAQA="/>
              </a:ext>
            </a:extLst>
          </p:cNvPicPr>
          <p:nvPr/>
        </p:nvPicPr>
        <p:blipFill>
          <a:blip r:embed="rId6"/>
          <a:srcRect l="13940" t="19360" r="13940" b="19360"/>
          <a:stretch>
            <a:fillRect/>
          </a:stretch>
        </p:blipFill>
        <p:spPr>
          <a:xfrm>
            <a:off x="8397240" y="226060"/>
            <a:ext cx="671830" cy="576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vlDO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gQAAE4KAAB6PAAA0g0AABAAAAAmAAAACAAAAP//////////MAAAABQAAAAAAAAAAAD//wAAAQAAAP//AAABAA=="/>
              </a:ext>
            </a:extLst>
          </p:cNvSpPr>
          <p:nvPr/>
        </p:nvSpPr>
        <p:spPr>
          <a:xfrm>
            <a:off x="687070" y="1675130"/>
            <a:ext cx="9144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Dataset</a:t>
            </a:r>
            <a:endParaRPr sz="3350" cap="none" noProof="1"/>
          </a:p>
        </p:txBody>
      </p:sp>
      <p:sp>
        <p:nvSpPr>
          <p:cNvPr id="8" name="card1"/>
          <p:cNvSpPr>
            <a:extLst>
              <a:ext uri="smNativeData">
                <pr:smNativeData xmlns:pr="smNativeData" xmlns="smNativeData" val="SMDATA_16_sKi/ahMAAAAlAAAAZQAAAA0AAAAAkAAAAEgAAACQAAAASAAAAAAAAAAAAAAAAAAAAAEAAABQAAAAuB6F61G4vj8AAAAAAADwvwAAAAAAAOA/AAAAAAAA4D8AAAAAAADgPwAAAAAAAOA/AAAAAAAA4D8AAAAAAADgPwAAAAAAAOA/AAAAAAAA4D8CAAAAjAAAAAEAAAAAAAAA8u/+AP7//ggAAAAAAAAAAAAAAAAAAAAAAAAAAAAAAAAAAAAAeAAAAAEAAABAAAAAAAAAAAAAAABaAAAAAAAAAAAAAAAAAAAAAAAAAAAAAAAAAAAAAAAAAAAAAAAAAAAAAAAAAAAAAAAAAAAAAAAAAAAAAAAAAAAAAAAAAAAAAAAAAAAAFAAAADwAAAABAAAAAAAAAEYX3gAe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OPr5O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u/+AP7//gEAAAAAAAAAAAAAAAAAAAAAAAAAAAAAAAAAAAAAAAAAAEYX3gB/f38A8/T2A8zMzADAwP8Af39/AAAAAAAAAAAAAAAAAAAAAAAAAAAAIQAAABgAAAAUAAAAOAQAALgQAABAJAAAkB8AABAAAAAmAAAACAAAAP//////////MAAAABQAAAAAAAAALAT//9T7AAAACf//APcAAA=="/>
              </a:ext>
            </a:extLst>
          </p:cNvSpPr>
          <p:nvPr/>
        </p:nvSpPr>
        <p:spPr>
          <a:xfrm>
            <a:off x="685800" y="2717800"/>
            <a:ext cx="5207000" cy="2413000"/>
          </a:xfrm>
          <a:prstGeom prst="roundRect">
            <a:avLst>
              <a:gd name="adj" fmla="val 6000"/>
            </a:avLst>
          </a:prstGeom>
          <a:solidFill>
            <a:srgbClr val="F2EFFE"/>
          </a:solidFill>
          <a:ln w="19050" cap="flat" cmpd="sng" algn="ctr">
            <a:solidFill>
              <a:srgbClr val="4617DE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9" name="card1-title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Nv73P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8AUAAPgRAACIIgAAABQAABAAAAAmAAAACAAAAP//////////MAAAABQAAAAAAAAAAAD//wAAAQAAAP//AAABAA=="/>
              </a:ext>
            </a:extLst>
          </p:cNvSpPr>
          <p:nvPr/>
        </p:nvSpPr>
        <p:spPr>
          <a:xfrm>
            <a:off x="965200" y="2921000"/>
            <a:ext cx="4648200" cy="33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4617DE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NASA FIRMS Active Fire Detections</a:t>
            </a:r>
            <a:endParaRPr sz="1700" cap="none" noProof="1"/>
          </a:p>
        </p:txBody>
      </p:sp>
      <p:sp>
        <p:nvSpPr>
          <p:cNvPr id="10" name="card2"/>
          <p:cNvSpPr>
            <a:extLst>
              <a:ext uri="smNativeData">
                <pr:smNativeData xmlns:pr="smNativeData" xmlns="smNativeData" val="SMDATA_16_sKi/ahMAAAAlAAAAZQAAAA0AAAAAkAAAAEgAAACQAAAASAAAAAAAAAAAAAAAAAAAAAEAAABQAAAAuB6F61G4vj8AAAAAAADwvwAAAAAAAOA/AAAAAAAA4D8AAAAAAADgPwAAAAAAAOA/AAAAAAAA4D8AAAAAAADgPwAAAAAAAOA/AAAAAAAA4D8CAAAAjAAAAAEAAAAAAAAA/+zvAP7//ggAAAAAAAAAAAAAAAAAAAAAAAAAAAAAAAAAAAAAeAAAAAEAAABAAAAAAAAAAAAAAABaAAAAAAAAAAAAAAAAAAAAAAAAAAAAAAAAAAAAAAAAAAAAAAAAAAAAAAAAAAAAAAAAAAAAAAAAAAAAAAAAAAAAAAAAAAAAAAAAAAAAFAAAADwAAAABAAAAAAAAAP4uRQAe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LvyvP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+zvAP7//gEAAAAAAAAAAAAAAAAAAAAAAAAAAAAAAAAAAAAAAAAAAP4uRQB/f38A8/T2A8zMzADAwP8Af39/AAAAAAAAAAAAAAAAAAAAAAAAAAAAIQAAABgAAAAUAAAAwCYAALgQAADIRgAAkB8AABAAAAAmAAAACAAAAP//////////MAAAABQAAAAAAAAALAT//9T7AAAACf//APcAAA=="/>
              </a:ext>
            </a:extLst>
          </p:cNvSpPr>
          <p:nvPr/>
        </p:nvSpPr>
        <p:spPr>
          <a:xfrm>
            <a:off x="6299200" y="2717800"/>
            <a:ext cx="5207000" cy="2413000"/>
          </a:xfrm>
          <a:prstGeom prst="roundRect">
            <a:avLst>
              <a:gd name="adj" fmla="val 6000"/>
            </a:avLst>
          </a:prstGeom>
          <a:solidFill>
            <a:srgbClr val="FFECEF"/>
          </a:solidFill>
          <a:ln w="19050" cap="flat" cmpd="sng" algn="ctr">
            <a:solidFill>
              <a:srgbClr val="FE2E45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11" name="card2-title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P1BP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eCgAAPgRAAAQRQAAABQAABAAAAAmAAAACAAAAP//////////MAAAABQAAAAAAAAAAAD//wAAAQAAAP//AAABAA=="/>
              </a:ext>
            </a:extLst>
          </p:cNvSpPr>
          <p:nvPr/>
        </p:nvSpPr>
        <p:spPr>
          <a:xfrm>
            <a:off x="6578600" y="2921000"/>
            <a:ext cx="4648200" cy="33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FE2E45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NASA POWER Daily Weather</a:t>
            </a:r>
            <a:endParaRPr sz="1700" cap="none" noProof="1"/>
          </a:p>
        </p:txBody>
      </p:sp>
      <p:sp>
        <p:nvSpPr>
          <p:cNvPr id="12" name="scope-box"/>
          <p:cNvSpPr>
            <a:extLst>
              <a:ext uri="smNativeData">
                <pr:smNativeData xmlns:pr="smNativeData" xmlns="smNativeData" val="SMDATA_16_sKi/ahMAAAAlAAAAZQAAAA0AAAAAkAAAAEgAAACQAAAASAAAAAAAAAAAAAAAAAAAAAEAAABQAAAAmpmZmZmZyT8AAAAAAADwvwAAAAAAAOA/AAAAAAAA4D8AAAAAAADgPwAAAAAAAOA/AAAAAAAA4D8AAAAAAADgPwAAAAAAAOA/AAAAAAAA4D8CAAAAjAAAAAEAAAAAAAAAKyVR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CvuLO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VRAP7//gEAAAAAAAAAAAAAAAAAAAAAAAAAAAAAAAAAAAAAAAAAACslUQJ/f38A8/T2A8zMzADAwP8Af39/AAAAAAAAAAAAAAAAAAAAAAAAAAAAIQAAABgAAAAUAAAAOAQAACAhAADIRgAAgCUAABAAAAAmAAAACAAAAP//////////MAAAABQAAAAAAAAA/QD//wP/AAAAD///APEAAA=="/>
              </a:ext>
            </a:extLst>
          </p:cNvSpPr>
          <p:nvPr/>
        </p:nvSpPr>
        <p:spPr>
          <a:xfrm>
            <a:off x="685800" y="5384800"/>
            <a:ext cx="10820400" cy="711200"/>
          </a:xfrm>
          <a:prstGeom prst="roundRect">
            <a:avLst>
              <a:gd name="adj" fmla="val 10000"/>
            </a:avLst>
          </a:prstGeom>
          <a:solidFill>
            <a:srgbClr val="2B255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13" name="footer-bar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Rhfe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JvpnO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CslUQJ/f38A8/T2A8zMzADAwP8Af39/AAAAAAAAAAAAAAAAAAAAAAAAAAAAIQAAABgAAAAUAAAA/P////4oAAAiSwAAfioAABAAAAAmAAAACAAAAP//////////MAAAABQAAAAAAAAAAAD//wAAAQAAAP//AAABAA=="/>
              </a:ext>
            </a:extLst>
          </p:cNvSpPr>
          <p:nvPr/>
        </p:nvSpPr>
        <p:spPr>
          <a:xfrm>
            <a:off x="-2540" y="6663690"/>
            <a:ext cx="12216130" cy="243840"/>
          </a:xfrm>
          <a:prstGeom prst="rect">
            <a:avLst/>
          </a:prstGeom>
          <a:solidFill>
            <a:srgbClr val="4617DE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14" name="TextBox 17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FPnVO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6AUAAPgTAACYIgAAwCEAABAgAAAmAAAACAAAAP//////////MAAAABQAAAAAAAAAAAD//wAAAQAAAP//AAABAA=="/>
              </a:ext>
            </a:extLst>
          </p:cNvSpPr>
          <p:nvPr/>
        </p:nvSpPr>
        <p:spPr>
          <a:xfrm>
            <a:off x="960120" y="3246120"/>
            <a:ext cx="4663440" cy="2240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>
              <a:spcAft>
                <a:spcPts val="200"/>
              </a:spcAft>
            </a:pPr>
            <a:r>
              <a:rPr sz="1210" b="1" cap="none">
                <a:solidFill>
                  <a:srgbClr val="4617DE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fire_count — fire detections/day</a:t>
            </a:r>
            <a:endParaRPr sz="1210" b="1" cap="none">
              <a:solidFill>
                <a:srgbClr val="4617DE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max_frp — maximum Fire Radiative Power (MW)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fire_day_any — 1 if any fire detected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fire_day_major — 1 if ≥3 detections OR max FRP ≥10 MW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5" name="TextBox 18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HPwdP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YygAAPgTAAATRQAAwCEAABAgAAAmAAAACAAAAP//////////MAAAABQAAAAAAAAAAAD//wAAAQAAAP//AAABAA=="/>
              </a:ext>
            </a:extLst>
          </p:cNvSpPr>
          <p:nvPr/>
        </p:nvSpPr>
        <p:spPr>
          <a:xfrm>
            <a:off x="6565265" y="3246120"/>
            <a:ext cx="4663440" cy="2240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>
              <a:spcAft>
                <a:spcPts val="200"/>
              </a:spcAft>
            </a:pPr>
            <a:r>
              <a:rPr sz="1180" b="1" cap="none">
                <a:solidFill>
                  <a:srgbClr val="FE2E45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t2m_max — maximum temperature (°C)</a:t>
            </a:r>
            <a:endParaRPr sz="1180" b="1" cap="none">
              <a:solidFill>
                <a:srgbClr val="FE2E45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8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rh2m — relative humidity (%)</a:t>
            </a:r>
            <a:endParaRPr sz="118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8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ws2m — wind speed (m/s)</a:t>
            </a:r>
            <a:endParaRPr sz="118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8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prectotcorr — precipitation (mm)</a:t>
            </a:r>
            <a:endParaRPr sz="118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8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Derived: dry_days · rh2m_3d · t2m_max_3d · rain_7d</a:t>
            </a:r>
            <a:endParaRPr sz="118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6" name="TextBox 19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6AUAAJgiAADoRAAAFSYAABAgAAAmAAAACAAAAP//////////MAAAABQAAAAAAAAAAAD//wAAAQAAAP//AAABAA=="/>
              </a:ext>
            </a:extLst>
          </p:cNvSpPr>
          <p:nvPr/>
        </p:nvSpPr>
        <p:spPr>
          <a:xfrm>
            <a:off x="960120" y="5623560"/>
            <a:ext cx="1024128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260" b="1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Scope: Latakia–Tartus coastal region · fire season May–October · 18,459 fire-season records · 2012–2026</a:t>
            </a:r>
            <a:endParaRPr sz="1260" b="1" cap="none">
              <a:solidFill>
                <a:srgbClr val="FFFFF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tl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NgCAAAYAwAAvg4AAAoEAAAQ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502920"/>
            <a:ext cx="1934210" cy="1536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logo-a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D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G4+AADAAQAA6kQAAPQE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0" y="284480"/>
            <a:ext cx="1054100" cy="5207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logo-b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g4AABkAQAAqD0AAEAFAAAQ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9199880" y="226060"/>
            <a:ext cx="822960" cy="62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logo-c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LhFAAAcAQAA6kcAAJoFAAAQAAAAJgAAAAgAAAD//////////zAAAAAUAAAAAAAAAAAA//8AAAEAAAD//wAAAQA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11333480" y="180340"/>
            <a:ext cx="356870" cy="7302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logo-d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cgUAAJAHAAByBQAAkAc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KgzAABkAQAAyjcAAPAEAAAQAAAAJgAAAAgAAAD//////////zAAAAAUAAAAAAAAAAAA//8AAAEAAAD//wAAAQA="/>
              </a:ext>
            </a:extLst>
          </p:cNvPicPr>
          <p:nvPr/>
        </p:nvPicPr>
        <p:blipFill>
          <a:blip r:embed="rId6"/>
          <a:srcRect l="13940" t="19360" r="13940" b="19360"/>
          <a:stretch>
            <a:fillRect/>
          </a:stretch>
        </p:blipFill>
        <p:spPr>
          <a:xfrm>
            <a:off x="8397240" y="226060"/>
            <a:ext cx="671830" cy="576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gQAAE4KAAB6PAAA0g0AABAAAAAmAAAACAAAAP//////////MAAAABQAAAAAAAAAAAD//wAAAQAAAP//AAABAA=="/>
              </a:ext>
            </a:extLst>
          </p:cNvSpPr>
          <p:nvPr/>
        </p:nvSpPr>
        <p:spPr>
          <a:xfrm>
            <a:off x="687070" y="1675130"/>
            <a:ext cx="9144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Python Approach</a:t>
            </a:r>
            <a:endParaRPr sz="3350" cap="none" noProof="1"/>
          </a:p>
        </p:txBody>
      </p:sp>
      <p:sp>
        <p:nvSpPr>
          <p:cNvPr id="8" name="col1-head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JAQAABAJAAAcBIAABAAAAAmAAAACAAAAP//////////MAAAABQAAAAAAAAAAAD//wAAAQAAAP//AAABAA=="/>
              </a:ext>
            </a:extLst>
          </p:cNvSpPr>
          <p:nvPr/>
        </p:nvSpPr>
        <p:spPr>
          <a:xfrm>
            <a:off x="685800" y="2692400"/>
            <a:ext cx="5207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4617DE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Feature engineering (pandas)</a:t>
            </a:r>
            <a:endParaRPr sz="1700" cap="none" noProof="1"/>
          </a:p>
        </p:txBody>
      </p:sp>
      <p:sp>
        <p:nvSpPr>
          <p:cNvPr id="9" name="col2-head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Hl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wCYAAJAQAADIRgAAcBIAABAAAAAmAAAACAAAAP//////////MAAAABQAAAAAAAAAAAD//wAAAQAAAP//AAABAA=="/>
              </a:ext>
            </a:extLst>
          </p:cNvSpPr>
          <p:nvPr/>
        </p:nvSpPr>
        <p:spPr>
          <a:xfrm>
            <a:off x="6299200" y="2692400"/>
            <a:ext cx="5207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FE2E45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Honest time-based evaluation</a:t>
            </a:r>
            <a:endParaRPr sz="1700" cap="none" noProof="1"/>
          </a:p>
        </p:txBody>
      </p:sp>
      <p:sp>
        <p:nvSpPr>
          <p:cNvPr id="10" name="models-box"/>
          <p:cNvSpPr>
            <a:extLst>
              <a:ext uri="smNativeData">
                <pr:smNativeData xmlns:pr="smNativeData" xmlns="smNativeData" val="SMDATA_16_sKi/ahMAAAAlAAAAZQAAAA0AAAAAkAAAAEgAAACQAAAASAAAAAAAAAAAAAAAAAAAAAEAAABQAAAAuB6F61G4zj8AAAAAAADwvwAAAAAAAOA/AAAAAAAA4D8AAAAAAADgPwAAAAAAAOA/AAAAAAAA4D8AAAAAAADgPwAAAAAAAOA/AAAAAAAA4D8CAAAAjAAAAAEAAAAAAAAA8u/+AP7//ggAAAAAAAAAAAAAAAAAAAAAAAAAAAAAAAAAAAAAeAAAAAEAAABAAAAAAAAAAAAAAABaAAAAAAAAAAAAAAAAAAAAAAAAAAAAAAAAAAAAAAAAAAAAAAAAAAAAAAAAAAAAAAAAAAAAAAAAAAAAAAAAAAAAAAAAAAAAAAAAAAAAFAAAADwAAAABAAAAAAAAAEYX3gAe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g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u/+AP7//gEAAAAAAAAAAAAAAAAAAAAAAAAAAAAAAAAAAAAAAAAAAEYX3gB/f38A8/T2A8zMzADAwP8Af39/AAAAAAAAAAAAAAAAAAAAAAAAAAAAIQAAABgAAAAUAAAAOAQAANgiAADIRgAASCYAABAAAAAmAAAACAAAAP//////////MAAAABQAAAAAAAAA7gD//xL/AAD/Ef//Ae4AAA=="/>
              </a:ext>
            </a:extLst>
          </p:cNvSpPr>
          <p:nvPr/>
        </p:nvSpPr>
        <p:spPr>
          <a:xfrm>
            <a:off x="685800" y="5664200"/>
            <a:ext cx="10820400" cy="558800"/>
          </a:xfrm>
          <a:prstGeom prst="roundRect">
            <a:avLst>
              <a:gd name="adj" fmla="val 12000"/>
            </a:avLst>
          </a:prstGeom>
          <a:solidFill>
            <a:srgbClr val="F2EFFE"/>
          </a:solidFill>
          <a:ln w="19050" cap="flat" cmpd="sng" algn="ctr">
            <a:solidFill>
              <a:srgbClr val="4617DE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11" name="footer-bar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Rhfe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C0AM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CslUQJ/f38A8/T2A8zMzADAwP8Af39/AAAAAAAAAAAAAAAAAAAAAAAAAAAAIQAAABgAAAAUAAAA/P////4oAAAiSwAAfioAABAAAAAmAAAACAAAAP//////////MAAAABQAAAAAAAAAAAD//wAAAQAAAP//AAABAA=="/>
              </a:ext>
            </a:extLst>
          </p:cNvSpPr>
          <p:nvPr/>
        </p:nvSpPr>
        <p:spPr>
          <a:xfrm>
            <a:off x="-2540" y="6663690"/>
            <a:ext cx="12216130" cy="243840"/>
          </a:xfrm>
          <a:prstGeom prst="rect">
            <a:avLst/>
          </a:prstGeom>
          <a:solidFill>
            <a:srgbClr val="4617DE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  <p:sp>
        <p:nvSpPr>
          <p:cNvPr id="12" name="TextBox 15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K0SAABIJAAABSEAABAgAAAmAAAACAAAAP//////////MAAAABQAAAAAAAAAAAD//wAAAQAAAP//AAABAA=="/>
              </a:ext>
            </a:extLst>
          </p:cNvSpPr>
          <p:nvPr/>
        </p:nvSpPr>
        <p:spPr>
          <a:xfrm>
            <a:off x="685800" y="3035935"/>
            <a:ext cx="5212080" cy="2331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>
              <a:spcAft>
                <a:spcPts val="200"/>
              </a:spcAft>
            </a:pPr>
            <a:r>
              <a:rPr sz="1210" b="1" cap="none">
                <a:solidFill>
                  <a:srgbClr val="4617DE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t2m_max, rh2m, ws2m, prectotcorr</a:t>
            </a:r>
            <a:endParaRPr sz="1210" b="1" cap="none">
              <a:solidFill>
                <a:srgbClr val="4617DE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dry_days, 3-day humidity/temp, 7-day rain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season_sin, season_cos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latitude + longitude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21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Fire columns are outcomes only — never inputs (no leakage)</a:t>
            </a:r>
            <a:endParaRPr sz="121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3" name="TextBox 16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G0/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syYAAK0SAADDRgAABSEAABAgAAAmAAAACAAAAP//////////MAAAABQAAAAAAAAAAAD//wAAAQAAAP//AAABAA=="/>
              </a:ext>
            </a:extLst>
          </p:cNvSpPr>
          <p:nvPr/>
        </p:nvSpPr>
        <p:spPr>
          <a:xfrm>
            <a:off x="6290945" y="3035935"/>
            <a:ext cx="5212080" cy="2331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>
              <a:spcAft>
                <a:spcPts val="200"/>
              </a:spcAft>
            </a:pPr>
            <a:r>
              <a:rPr sz="1170" b="1" cap="none">
                <a:solidFill>
                  <a:srgbClr val="FE2E45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Train: 2012–2019 (10,304 rows)</a:t>
            </a:r>
            <a:endParaRPr sz="1170" b="1" cap="none">
              <a:solidFill>
                <a:srgbClr val="FE2E45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7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Validation: 2020–2021 (2,576 rows)</a:t>
            </a:r>
            <a:endParaRPr sz="117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7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• Test: 2022–2026 (5,579 rows)</a:t>
            </a:r>
            <a:endParaRPr sz="117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  <a:p>
            <a:pPr>
              <a:spcAft>
                <a:spcPts val="200"/>
              </a:spcAft>
            </a:pPr>
            <a:r>
              <a:rPr sz="117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Models: Hot &amp; dry rule · Placebo · Logistic Regression · Random Forest · Weather-only RF</a:t>
            </a:r>
            <a:endParaRPr sz="117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4" name="TextBox 17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6AUAAMMiAADoRAAABiYAABAgAAAmAAAACAAAAP//////////MAAAABQAAAAAAAAAAAD//wAAAQAAAP//AAABAA=="/>
              </a:ext>
            </a:extLst>
          </p:cNvSpPr>
          <p:nvPr/>
        </p:nvSpPr>
        <p:spPr>
          <a:xfrm>
            <a:off x="960120" y="5650865"/>
            <a:ext cx="1024128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18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Metrics: ROC-AUC · PR-AUC · lift vs random · precision · recall · F1   |   Risk thresholds are chosen on validation data only</a:t>
            </a:r>
            <a:endParaRPr sz="1180" b="1" cap="none">
              <a:solidFill>
                <a:srgbClr val="2B2551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QAA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qwQAACcCAAALQAAAqwUAABAAAAAmAAAACAAAAP//////////MAAAABQAAAAAAAAAAAD//wAAAQAAAP//AAABAA=="/>
              </a:ext>
            </a:extLst>
          </p:cNvSpPr>
          <p:nvPr/>
        </p:nvSpPr>
        <p:spPr>
          <a:xfrm>
            <a:off x="758825" y="349885"/>
            <a:ext cx="9652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Model Results &amp; Risk Levels</a:t>
            </a:r>
            <a:endParaRPr sz="3350" cap="none" noProof="1"/>
          </a:p>
        </p:txBody>
      </p:sp>
      <p:sp>
        <p:nvSpPr>
          <p:cNvPr id="3" name="TextBox 8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BicAABYHAAB+SAAAVgkAABAgAAAmAAAACAAAAP//////////MAAAABQAAAAAAAAAAAD//wAAAQAAAP//AAABAA=="/>
              </a:ext>
            </a:extLst>
          </p:cNvSpPr>
          <p:nvPr/>
        </p:nvSpPr>
        <p:spPr>
          <a:xfrm>
            <a:off x="6343650" y="1151890"/>
            <a:ext cx="54406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500" b="1" cap="none">
                <a:solidFill>
                  <a:srgbClr val="FE2E45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Observed major-fire rate by predicted risk level</a:t>
            </a:r>
            <a:endParaRPr sz="1500" b="1" cap="none">
              <a:solidFill>
                <a:srgbClr val="FE2E45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graphicFrame>
        <p:nvGraphicFramePr>
          <p:cNvPr id="4" name="Table1"/>
          <p:cNvGraphicFramePr>
            <a:graphicFrameLocks noGrp="1"/>
          </p:cNvGraphicFramePr>
          <p:nvPr/>
        </p:nvGraphicFramePr>
        <p:xfrm>
          <a:off x="6363970" y="1641475"/>
          <a:ext cx="5440680" cy="1874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05840"/>
                <a:gridCol w="1005840"/>
                <a:gridCol w="1143000"/>
                <a:gridCol w="1325880"/>
                <a:gridCol w="960120"/>
              </a:tblGrid>
              <a:tr h="46863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b="1" cap="none">
                          <a:solidFill>
                            <a:srgbClr val="FFFFFF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Risk</a:t>
                      </a:r>
                      <a:endParaRPr sz="940" b="1" cap="none">
                        <a:solidFill>
                          <a:srgbClr val="FFFFFF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2551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b="1" cap="none">
                          <a:solidFill>
                            <a:srgbClr val="FFFFFF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Days</a:t>
                      </a:r>
                      <a:endParaRPr sz="940" b="1" cap="none">
                        <a:solidFill>
                          <a:srgbClr val="FFFFFF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2551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b="1" cap="none">
                          <a:solidFill>
                            <a:srgbClr val="FFFFFF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Fire days</a:t>
                      </a:r>
                      <a:endParaRPr sz="940" b="1" cap="none">
                        <a:solidFill>
                          <a:srgbClr val="FFFFFF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2551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b="1" cap="none">
                          <a:solidFill>
                            <a:srgbClr val="FFFFFF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Fire rate</a:t>
                      </a:r>
                      <a:endParaRPr sz="940" b="1" cap="none">
                        <a:solidFill>
                          <a:srgbClr val="FFFFFF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2551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b="1" cap="none">
                          <a:solidFill>
                            <a:srgbClr val="FFFFFF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Share</a:t>
                      </a:r>
                      <a:endParaRPr sz="940" b="1" cap="none">
                        <a:solidFill>
                          <a:srgbClr val="FFFFFF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2551"/>
                    </a:solidFill>
                  </a:tcPr>
                </a:tc>
                <a:extLst>
                  <a:ext uri="smNativeData">
                    <pr:rowheight xmlns="" xmlns:pr="smNativeData" dt="1790945456" type="min" val="468630"/>
                  </a:ext>
                </a:extLst>
              </a:tr>
              <a:tr h="46863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Low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3,917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71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1.8%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20%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90945456" type="min" val="468630"/>
                  </a:ext>
                </a:extLst>
              </a:tr>
              <a:tr h="46863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Moderate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754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78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10.3%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22%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90945456" type="min" val="468630"/>
                  </a:ext>
                </a:extLst>
              </a:tr>
              <a:tr h="46863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High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908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212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23.3%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</a:pPr>
                      <a:r>
                        <a:rPr sz="940" cap="none">
                          <a:solidFill>
                            <a:srgbClr val="000000"/>
                          </a:solidFill>
                          <a:latin typeface="Microsoft YaHei" pitchFamily="2" charset="0"/>
                          <a:ea typeface="SimSun" pitchFamily="0" charset="0"/>
                          <a:cs typeface="Times New Roman" pitchFamily="1" charset="0"/>
                        </a:rPr>
                        <a:t>59%</a:t>
                      </a:r>
                      <a:endParaRPr sz="940" cap="none">
                        <a:solidFill>
                          <a:srgbClr val="000000"/>
                        </a:solidFill>
                        <a:latin typeface="Microsoft YaHei" pitchFamily="2" charset="0"/>
                        <a:ea typeface="SimSun" pitchFamily="0" charset="0"/>
                        <a:cs typeface="Times New Roman" pitchFamily="1" charset="0"/>
                      </a:endParaRPr>
                    </a:p>
                  </a:txBody>
                  <a:tcPr marL="38100" marR="12700" marT="38100" marB="12700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90945456" type="min" val="468630"/>
                  </a:ext>
                </a:extLst>
              </a:tr>
            </a:tbl>
          </a:graphicData>
        </a:graphic>
      </p:graphicFrame>
      <p:sp>
        <p:nvSpPr>
          <p:cNvPr id="5" name="TextBox 11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9fT7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E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T7AP7//gEAAAAAAAAAAAAAAAAAAAAAAAAAAAAAAAAAAAAAAAAAAN3a7gB/f38A8/T2A8zMzADAwP8Af39/AAAAAAAAAAAAAAAAAAAAAAAAAAAAIQAAABgAAAAUAAAAQwMAAEMeAACbRwAA/SIAABAgAAAmAAAACAAAAP//////////MAAAABQAAAAAAAAAAAD//wAAAQAAAP//AAABAA=="/>
              </a:ext>
            </a:extLst>
          </p:cNvSpPr>
          <p:nvPr/>
        </p:nvSpPr>
        <p:spPr>
          <a:xfrm>
            <a:off x="530225" y="4919345"/>
            <a:ext cx="11109960" cy="768350"/>
          </a:xfrm>
          <a:prstGeom prst="rect">
            <a:avLst/>
          </a:prstGeom>
          <a:solidFill>
            <a:srgbClr val="F5F4FB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40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Key finding: observed major-fire rate rises from 1.8% (Low) to 10.3% (Moderate) to 23.3% (High).</a:t>
            </a:r>
            <a:endParaRPr sz="1400" b="1" cap="none">
              <a:solidFill>
                <a:srgbClr val="2B2551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6" name="TextBox 12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QwMAAI0jAAADJQAAeiYAABAgAAAmAAAACAAAAP//////////MAAAABQAAAAAAAAAAAD//wAAAQAAAP//AAABAA=="/>
              </a:ext>
            </a:extLst>
          </p:cNvSpPr>
          <p:nvPr/>
        </p:nvSpPr>
        <p:spPr>
          <a:xfrm>
            <a:off x="530225" y="5779135"/>
            <a:ext cx="5486400" cy="4756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140" b="1" cap="none">
                <a:solidFill>
                  <a:srgbClr val="666666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Risk thresholds: Moderate ≥ 0.37 · High ≥ 0.60</a:t>
            </a:r>
            <a:endParaRPr sz="1140" b="1" cap="none">
              <a:solidFill>
                <a:srgbClr val="666666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7" name="TextBox 13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EMAY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IyYAAP0iAACbRwAACicAABAgAAAmAAAACAAAAP//////////MAAAABQAAAAAAAAAAAD//wAAAQAAAP//AAABAA=="/>
              </a:ext>
            </a:extLst>
          </p:cNvSpPr>
          <p:nvPr/>
        </p:nvSpPr>
        <p:spPr>
          <a:xfrm>
            <a:off x="6199505" y="5687695"/>
            <a:ext cx="5440680" cy="65849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60" b="1" cap="none">
                <a:solidFill>
                  <a:srgbClr val="C8452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Important: on this test set, the season + location placebo had higher PR-AUC than the weather-based Random Forest (0.313 vs 0.286).</a:t>
            </a:r>
            <a:endParaRPr sz="1060" b="1" cap="none">
              <a:solidFill>
                <a:srgbClr val="C8452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pic>
        <p:nvPicPr>
          <p:cNvPr id="8" name="Picture1"/>
          <p:cNvPicPr>
            <a:picLocks noChangeAspect="1"/>
            <a:extLst>
              <a:ext uri="smNativeData">
                <pr:smNativeData xmlns:pr="smNativeData" xmlns="smNativeData" val="SMDATA_18_sKi/ahMAAAAlAAAAEQAAAC8B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AIAACrBQAAth8AADYdAAAA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91920" y="921385"/>
            <a:ext cx="3763010" cy="38271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gQAAE4KAACaPwAA0g0AABAAAAAmAAAACAAAAP//////////MAAAABQAAAAAAAAAAAD//wAAAQAAAP//AAABAA=="/>
              </a:ext>
            </a:extLst>
          </p:cNvSpPr>
          <p:nvPr/>
        </p:nvSpPr>
        <p:spPr>
          <a:xfrm>
            <a:off x="687070" y="1675130"/>
            <a:ext cx="9652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Interactive Syria FireWatch</a:t>
            </a:r>
            <a:endParaRPr sz="3350" cap="none" noProof="1"/>
          </a:p>
        </p:txBody>
      </p:sp>
      <p:sp>
        <p:nvSpPr>
          <p:cNvPr id="3" name="TextBox 7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FgOAACYRgAAcBEAABAgAAAmAAAACAAAAP//////////MAAAABQAAAAAAAAAAAD//wAAAQAAAP//AAABAA=="/>
              </a:ext>
            </a:extLst>
          </p:cNvSpPr>
          <p:nvPr/>
        </p:nvSpPr>
        <p:spPr>
          <a:xfrm>
            <a:off x="685800" y="2331720"/>
            <a:ext cx="107899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43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Prototype UI: enter one day of weather and location → receive a risk score, risk level, and practical advice.</a:t>
            </a:r>
            <a:endParaRPr sz="143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4" name="Rounded Rectangle 8"/>
          <p:cNvSpPr>
            <a:extLst>
              <a:ext uri="smNativeData">
                <pr:smNativeData xmlns:pr="smNativeData" xmlns="smNativeData" val="SMDATA_16_sKi/ahMAAAAlAAAAZQAAAA0AAAAAkAAAAEgAAACQAAAASAAAAAAAAAABAAAAAAAAAAEAAABQAAAAhbacS3FV1T8AAAAAAADwvwAAAAAAAOA/AAAAAAAA4D8AAAAAAADgPwAAAAAAAOA/AAAAAAAA4D8AAAAAAADgPwAAAAAAAOA/AAAAAAAA4D8CAAAAjAAAAAEAAAAAAAAA9fT7AP7//ggAAAAAAAAAAAAAAAAAAAAAAAAAAAAAAAAAAAAAZAAAAAEAAABAAAAAAAAAAAAAAAAAAAAAAAAAAAAAAAAAAAAAAAAAAAAAAAAAAAAAAAAAAAAAAAAAAAAAAAAAAAAAAAAAAAAAAAAAAAAAAAAAAAAAAAAAAAAAAAAAAAAAFAAAADwAAAABAAAAAAAAAN3a7gAKAAAAAQAAABQAAAAUAAAAFAAAAAEAAAAAAAAAZAAAAGQAAAAAAAAAZAAAAGQAAAAVAAAAYAAAAAAAAAAAAAAADwAAACADAAAAAAAAAAAAAAEAAACgMgAAVgcAAKr4//8BAAAAAAAAAAEAAABkAAAAAAAAABQAAABAHwAAAAAAACYAAAAAAAAAwOD//wAAAAAmAAAAZAAAABYAAABMAAAAAAAAAAAAAAAEAAAAAAAAAAEAAAAAAAAA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T7AP7//gEAAAAAAAAAAAAAAAAAAAAAAAAAAAAAAAAAAAAAAAAAAN3a7gAAAAAAAAAAAMzMzADAwP8Af39/AAAAAAAAAAAAAAAAAAAAAAAAAAAAIQAAABgAAAAUAAAAOAQAAOMRAACYRgAA5iQAABAAAAAmAAAACAAAAP//////////MAAAABQAAAAAAAAAKQf//9f4AAD/GP//AecAAA=="/>
              </a:ext>
            </a:extLst>
          </p:cNvSpPr>
          <p:nvPr/>
        </p:nvSpPr>
        <p:spPr>
          <a:xfrm>
            <a:off x="685800" y="2907665"/>
            <a:ext cx="10789920" cy="3090545"/>
          </a:xfrm>
          <a:prstGeom prst="roundRect">
            <a:avLst>
              <a:gd name="adj" fmla="val 16667"/>
            </a:avLst>
          </a:prstGeom>
          <a:solidFill>
            <a:srgbClr val="F5F4FB"/>
          </a:solidFill>
          <a:ln w="6350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EFFFE"/>
                </a:solidFill>
                <a:latin typeface="MiSans" pitchFamily="0" charset="0"/>
                <a:ea typeface="MiSans" pitchFamily="0" charset="0"/>
                <a:cs typeface="MiSans" pitchFamily="0" charset="0"/>
              </a:defRPr>
            </a:pPr>
          </a:p>
        </p:txBody>
      </p:sp>
      <p:sp>
        <p:nvSpPr>
          <p:cNvPr id="5" name="Rounded Rectangle 9"/>
          <p:cNvSpPr>
            <a:extLst>
              <a:ext uri="smNativeData">
                <pr:smNativeData xmlns:pr="smNativeData" xmlns="smNativeData" val="SMDATA_16_sKi/ahMAAAAlAAAAZQAAAA0AAAAAkAAAAEgAAACQAAAASAAAAAAAAAABAAAAAAAAAAEAAABQAAAAhbacS3FV1T8AAAAAAADwvwAAAAAAAOA/AAAAAAAA4D8AAAAAAADgPwAAAAAAAOA/AAAAAAAA4D8AAAAAAADgPwAAAAAAAOA/AAAAAAAA4D8CAAAAjAAAAAEAAAAAAAAA////AP7//ggAAAAAAAAAAAAAAAAAAAAAAAAAAAAAAAAAAAAAZAAAAAEAAABAAAAAAAAAAAAAAAAAAAAAAAAAAAAAAAAAAAAAAAAAAAAAAAAAAAAAAAAAAAAAAAAAAAAAAAAAAAAAAAAAAAAAAAAAAAAAAAAAAAAAAAAAAAAAAAAAAAAAFAAAADwAAAABAAAAAAAAAN3a7gAKAAAAAQAAABQAAAAUAAAAFAAAAAEAAAAAAAAAZAAAAGQAAAAAAAAAZAAAAGQAAAAVAAAAYAAAAAAAAAAAAAAADwAAACADAAAAAAAAAAAAAAEAAACgMgAAVgcAAKr4//8BAAAAAAAAAAEAAABkAAAAAAAAABQAAABAHwAAAAAAACYAAAAAAAAAwOD//wAAAAAmAAAAZAAAABYAAABMAAAAAAAAAAAAAAAEAAAAAAAAAAEAAAAAAAAA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AAAAAAAAAAAMzMzADAwP8Af39/AAAAAAAAAAAAAAAAAAAAAAAAAAAAIQAAABgAAAAUAAAAywUAAJMTAACLJwAANiMAABAAAAAmAAAACAAAAP//////////MAAAABQAAAAAAAAAlQv//2v0AAD/GP//AecAAA=="/>
              </a:ext>
            </a:extLst>
          </p:cNvSpPr>
          <p:nvPr/>
        </p:nvSpPr>
        <p:spPr>
          <a:xfrm>
            <a:off x="941705" y="3181985"/>
            <a:ext cx="5486400" cy="25419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EFFFE"/>
                </a:solidFill>
                <a:latin typeface="MiSans" pitchFamily="0" charset="0"/>
                <a:ea typeface="MiSans" pitchFamily="0" charset="0"/>
                <a:cs typeface="MiSans" pitchFamily="0" charset="0"/>
              </a:defRPr>
            </a:pPr>
          </a:p>
        </p:txBody>
      </p:sp>
      <p:sp>
        <p:nvSpPr>
          <p:cNvPr id="6" name="TextBox 10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MwcAALMUAACTJQAAqxYAABAgAAAmAAAACAAAAP//////////MAAAABQAAAAAAAAAAAD//wAAAQAAAP//AAABAA=="/>
              </a:ext>
            </a:extLst>
          </p:cNvSpPr>
          <p:nvPr/>
        </p:nvSpPr>
        <p:spPr>
          <a:xfrm>
            <a:off x="1170305" y="3364865"/>
            <a:ext cx="49377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400" b="1" cap="none">
                <a:solidFill>
                  <a:srgbClr val="4617DE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Enter weather</a:t>
            </a:r>
            <a:endParaRPr sz="1400" b="1" cap="none">
              <a:solidFill>
                <a:srgbClr val="4617DE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7" name="TextBox 11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MwcAABAXAACLFQAAwBgAABAgAAAmAAAACAAAAP//////////MAAAABQAAAAAAAAAAAD//wAAAQAAAP//AAABAA=="/>
              </a:ext>
            </a:extLst>
          </p:cNvSpPr>
          <p:nvPr/>
        </p:nvSpPr>
        <p:spPr>
          <a:xfrm>
            <a:off x="1170305" y="374904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Date: 2025-08-10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8" name="TextBox 12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8xYAABAXAABLJQAAwBgAABAgAAAmAAAACAAAAP//////////MAAAABQAAAAAAAAAAAD//wAAAQAAAP//AAABAA=="/>
              </a:ext>
            </a:extLst>
          </p:cNvSpPr>
          <p:nvPr/>
        </p:nvSpPr>
        <p:spPr>
          <a:xfrm>
            <a:off x="3730625" y="374904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Grid cell: 35.5_36.250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9" name="TextBox 13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MwcAAHsZAACLFQAAKxsAABAgAAAmAAAACAAAAP//////////MAAAABQAAAAAAAAAAAD//wAAAQAAAP//AAABAA=="/>
              </a:ext>
            </a:extLst>
          </p:cNvSpPr>
          <p:nvPr/>
        </p:nvSpPr>
        <p:spPr>
          <a:xfrm>
            <a:off x="1170305" y="4142105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Temperature: 37 °C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0" name="TextBox 14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8xYAAHsZAABLJQAAKxsAABAgAAAmAAAACAAAAP//////////MAAAABQAAAAAAAAAAAD//wAAAQAAAP//AAABAA=="/>
              </a:ext>
            </a:extLst>
          </p:cNvSpPr>
          <p:nvPr/>
        </p:nvSpPr>
        <p:spPr>
          <a:xfrm>
            <a:off x="3730625" y="4142105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Humidity: 40 %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1" name="TextBox 15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MwcAAOYbAACLFQAAlh0AABAgAAAmAAAACAAAAP//////////MAAAABQAAAAAAAAAAAD//wAAAQAAAP//AAABAA=="/>
              </a:ext>
            </a:extLst>
          </p:cNvSpPr>
          <p:nvPr/>
        </p:nvSpPr>
        <p:spPr>
          <a:xfrm>
            <a:off x="1170305" y="453517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Wind: 2.5 m/s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2" name="TextBox 16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8xYAAOYbAABLJQAAlh0AABAgAAAmAAAACAAAAP//////////MAAAABQAAAAAAAAAAAD//wAAAQAAAP//AAABAA=="/>
              </a:ext>
            </a:extLst>
          </p:cNvSpPr>
          <p:nvPr/>
        </p:nvSpPr>
        <p:spPr>
          <a:xfrm>
            <a:off x="3730625" y="453517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Rain: 0 mm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3" name="TextBox 17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MwcAAFIeAACLFQAAAiAAABAgAAAmAAAACAAAAP//////////MAAAABQAAAAAAAAAAAD//wAAAQAAAP//AAABAA=="/>
              </a:ext>
            </a:extLst>
          </p:cNvSpPr>
          <p:nvPr/>
        </p:nvSpPr>
        <p:spPr>
          <a:xfrm>
            <a:off x="1170305" y="492887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Dry days: 45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4" name="TextBox 18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EAAAAAAAAA////AP7//ggAAAAAAAAAAAAAAAAAAAAAAAAAAAAAAAAAAAAAeAAAAAEAAABAAAAAAAAAAAAAAABaAAAAAAAAAAAAAAAAAAAAAAAAAAAAAAAAAAAAAAAAAAAAAAAAAAAAAAAAAAAAAAAAAAAAAAAAAAAAAAAAAAAAAAAAAAAAAAAAAAAAFAAAADwAAAABAAAAAAAAAN3a7gAPAAAAAQAAACMAAAAjAAAAIwAAAB4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B/f38A8/T2A8zMzADAwP8Af39/AAAAAAAAAAAAAAAAAAAAAAAAAAAAIQAAABgAAAAUAAAA8xYAAFIeAABLJQAAAiAAABAgAAAmAAAACAAAAP//////////MAAAABQAAAAAAAAAAAD//wAAAQAAAP//AAABAA=="/>
              </a:ext>
            </a:extLst>
          </p:cNvSpPr>
          <p:nvPr/>
        </p:nvSpPr>
        <p:spPr>
          <a:xfrm>
            <a:off x="3730625" y="4928870"/>
            <a:ext cx="2331720" cy="2743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7-day rain: 0 mm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5" name="Rounded Rectangle 19"/>
          <p:cNvSpPr>
            <a:extLst>
              <a:ext uri="smNativeData">
                <pr:smNativeData xmlns:pr="smNativeData" xmlns="smNativeData" val="SMDATA_16_sKi/ahMAAAAlAAAAZQAAAA0AAAAAkAAAAEgAAACQAAAASAAAAAAAAAABAAAAAAAAAAEAAABQAAAAhbacS3FV1T8AAAAAAADwvwAAAAAAAOA/AAAAAAAA4D8AAAAAAADgPwAAAAAAAOA/AAAAAAAA4D8AAAAAAADgPwAAAAAAAOA/AAAAAAAA4D8CAAAAjAAAAAEAAAAAAAAARhfeAP7//ggAAAAAAAAAAAAAAAAAAAAAAAAAAAAAAAAAAAAAZAAAAAEAAABAAAAAAAAAAAAAAAAAAAAAAAAAAAAAAAAAAAAAAAAAAAAAAAAAAAAAAAAAAAAAAAAAAAAAAAAAAAAAAAAAAAAAAAAAAAAAAAAAAAAAAAAAAAAAAAAAAAAAFAAAADwAAAAAAAAAAAAAAERyxAwKAAAAAQAAABQAAAAUAAAAFAAAAAEAAAAAAAAAZAAAAGQAAAAAAAAAZAAAAGQAAAAVAAAAYAAAAAAAAAAAAAAADwAAACADAAAAAAAAAAAAAAEAAACgMgAAVgcAAKr4//8BAAAAAAAAAAEAAABkAAAAAAAAABQAAABAHwAAAAAAACYAAAAAAAAAwOD//wAAAAAmAAAAZAAAABYAAABMAAAAAAAAAAAAAAAEAAAAAAAAAAEAAAAAAAAA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ERyxAUAAAAAAAAAAMzMzADAwP8Af39/AAAAAAAAAAAAAAAAAAAAAAAAAAAAIQAAABgAAAAUAAAAWA4AAPYgAAC4GgAAfiMAABAAAAAmAAAACAAAAP//////////MAAAABQAAAAAAAAAHQX//+P6AAD/GP//AecAAA=="/>
              </a:ext>
            </a:extLst>
          </p:cNvSpPr>
          <p:nvPr/>
        </p:nvSpPr>
        <p:spPr>
          <a:xfrm>
            <a:off x="2331720" y="5358130"/>
            <a:ext cx="2011680" cy="411480"/>
          </a:xfrm>
          <a:prstGeom prst="roundRect">
            <a:avLst>
              <a:gd name="adj" fmla="val 16667"/>
            </a:avLst>
          </a:prstGeom>
          <a:solidFill>
            <a:srgbClr val="4617DE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EFFFE"/>
                </a:solidFill>
                <a:latin typeface="MiSans" pitchFamily="0" charset="0"/>
                <a:ea typeface="MiSans" pitchFamily="0" charset="0"/>
                <a:cs typeface="MiSans" pitchFamily="0" charset="0"/>
              </a:defRPr>
            </a:pPr>
          </a:p>
        </p:txBody>
      </p:sp>
      <p:sp>
        <p:nvSpPr>
          <p:cNvPr id="16" name="TextBox 20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dQ4AAD4hAACbGgAAwyIAABAgAAAmAAAACAAAAP//////////MAAAABQAAAAAAAAAAAD//wAAAQAAAP//AAABAA=="/>
              </a:ext>
            </a:extLst>
          </p:cNvSpPr>
          <p:nvPr/>
        </p:nvSpPr>
        <p:spPr>
          <a:xfrm>
            <a:off x="2350135" y="5403850"/>
            <a:ext cx="197485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 algn="ctr"/>
            <a:r>
              <a:rPr sz="1050" b="1" cap="none">
                <a:solidFill>
                  <a:srgbClr val="FFFFF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CHECK FIRE RISK</a:t>
            </a:r>
            <a:endParaRPr sz="1050" b="1" cap="none">
              <a:solidFill>
                <a:srgbClr val="FFFFF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7" name="Rounded Rectangle 21"/>
          <p:cNvSpPr>
            <a:extLst>
              <a:ext uri="smNativeData">
                <pr:smNativeData xmlns:pr="smNativeData" xmlns="smNativeData" val="SMDATA_16_sKi/ahMAAAAlAAAAZQAAAA0AAAAAkAAAAEgAAACQAAAASAAAAAAAAAABAAAAAAAAAAEAAABQAAAAhbacS3FV1T8AAAAAAADwvwAAAAAAAOA/AAAAAAAA4D8AAAAAAADgPwAAAAAAAOA/AAAAAAAA4D8AAAAAAADgPwAAAAAAAOA/AAAAAAAA4D8CAAAAjAAAAAEAAAAAAAAA////AP7//ggAAAAAAAAAAAAAAAAAAAAAAAAAAAAAAAAAAAAAZAAAAAEAAABAAAAAAAAAAAAAAAAAAAAAAAAAAAAAAAAAAAAAAAAAAAAAAAAAAAAAAAAAAAAAAAAAAAAAAAAAAAAAAAAAAAAAAAAAAAAAAAAAAAAAAAAAAAAAAAAAAAAAFAAAADwAAAABAAAAAAAAAN3a7gAKAAAAAQAAABQAAAAUAAAAFAAAAAEAAAAAAAAAZAAAAGQAAAAAAAAAZAAAAGQAAAAVAAAAYAAAAAAAAAAAAAAADwAAACADAAAAAAAAAAAAAAEAAACgMgAAVgcAAKr4//8BAAAAAAAAAAEAAABkAAAAAAAAABQAAABAHwAAAAAAACYAAAAAAAAAwOD//wAAAAAmAAAAZAAAABYAAABMAAAAAAAAAAAAAAAEAAAAAAAAAAEAAAAAAAAA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7//gEAAAAAAAAAAAAAAAAAAAAAAAAAAAAAAAAAAAAAAAAAAN3a7gAAAAAAAAAAAMzMzADAwP8Af39/AAAAAAAAAAAAAAAAAAAAAAAAAAAAIQAAABgAAAAUAAAA8ygAAJMTAAD2RAAANiMAABAAAAAmAAAACAAAAP//////////MAAAABQAAAAAAAAA9A3//wzyAAD/GP//AecAAA=="/>
              </a:ext>
            </a:extLst>
          </p:cNvSpPr>
          <p:nvPr/>
        </p:nvSpPr>
        <p:spPr>
          <a:xfrm>
            <a:off x="6656705" y="3181985"/>
            <a:ext cx="4553585" cy="25419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 cap="flat" cmpd="sng" algn="ctr">
            <a:solidFill>
              <a:srgbClr val="DDDAEE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cap="none">
                <a:solidFill>
                  <a:srgbClr val="FEFFFE"/>
                </a:solidFill>
                <a:latin typeface="MiSans" pitchFamily="0" charset="0"/>
                <a:ea typeface="MiSans" pitchFamily="0" charset="0"/>
                <a:cs typeface="MiSans" pitchFamily="0" charset="0"/>
              </a:defRPr>
            </a:pPr>
          </a:p>
        </p:txBody>
      </p:sp>
      <p:sp>
        <p:nvSpPr>
          <p:cNvPr id="18" name="TextBox 22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eCoAALMUAAA4QwAAqxYAABAgAAAmAAAACAAAAP//////////MAAAABQAAAAAAAAAAAD//wAAAQAAAP//AAABAA=="/>
              </a:ext>
            </a:extLst>
          </p:cNvSpPr>
          <p:nvPr/>
        </p:nvSpPr>
        <p:spPr>
          <a:xfrm>
            <a:off x="6903720" y="3364865"/>
            <a:ext cx="40233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400" b="1" cap="none">
                <a:solidFill>
                  <a:srgbClr val="FE2E45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Model output</a:t>
            </a:r>
            <a:endParaRPr sz="1400" b="1" cap="none">
              <a:solidFill>
                <a:srgbClr val="FE2E45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19" name="TextBox 23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eCoAAIMXAAA4QwAA4xoAABAgAAAmAAAACAAAAP//////////MAAAABQAAAAAAAAAAAD//wAAAQAAAP//AAABAA=="/>
              </a:ext>
            </a:extLst>
          </p:cNvSpPr>
          <p:nvPr/>
        </p:nvSpPr>
        <p:spPr>
          <a:xfrm>
            <a:off x="6903720" y="3822065"/>
            <a:ext cx="40233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 algn="ctr"/>
            <a:r>
              <a:rPr sz="2400" b="1" cap="none">
                <a:solidFill>
                  <a:srgbClr val="C8452F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HIGH FIRE RISK</a:t>
            </a:r>
            <a:endParaRPr sz="2400" b="1" cap="none">
              <a:solidFill>
                <a:srgbClr val="C8452F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20" name="TextBox 24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eCoAAB0bAAA4QwAAXR0AABAgAAAmAAAACAAAAP//////////MAAAABQAAAAAAAAAAAD//wAAAQAAAP//AAABAA=="/>
              </a:ext>
            </a:extLst>
          </p:cNvSpPr>
          <p:nvPr/>
        </p:nvSpPr>
        <p:spPr>
          <a:xfrm>
            <a:off x="6903720" y="4407535"/>
            <a:ext cx="4023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 algn="ctr"/>
            <a:r>
              <a:rPr sz="160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Risk score: 0.90</a:t>
            </a:r>
            <a:endParaRPr sz="1600" b="1" cap="none">
              <a:solidFill>
                <a:srgbClr val="2B2551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21" name="TextBox 25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eCoAAAoeAAA4QwAAoyEAABAgAAAmAAAACAAAAP//////////MAAAABQAAAAAAAAAAAD//wAAAQAAAP//AAABAA=="/>
              </a:ext>
            </a:extLst>
          </p:cNvSpPr>
          <p:nvPr/>
        </p:nvSpPr>
        <p:spPr>
          <a:xfrm>
            <a:off x="6903720" y="4883150"/>
            <a:ext cx="4023360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 algn="ctr"/>
            <a:r>
              <a:rPr sz="10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High danger. Consider alerting local fire services and restricting open burning.</a:t>
            </a:r>
            <a:endParaRPr sz="1050" cap="none">
              <a:solidFill>
                <a:srgbClr val="000000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  <p:sp>
        <p:nvSpPr>
          <p:cNvPr id="22" name="TextBox 26"/>
          <p:cNvSpPr>
            <a:extLst>
              <a:ext uri="smNativeData">
                <pr:smNativeData xmlns:pr="smNativeData" xmlns="smNativeData" val="SMDATA_16_sKi/ahMAAAAlAAAAZAAAAE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YwQAALAlAAB7RgAAYCcAABAgAAAmAAAACAAAAP//////////MAAAABQAAAAAAAAAAAD//wAAAQAAAP//AAABAA=="/>
              </a:ext>
            </a:extLst>
          </p:cNvSpPr>
          <p:nvPr/>
        </p:nvSpPr>
        <p:spPr>
          <a:xfrm>
            <a:off x="713105" y="6126480"/>
            <a:ext cx="10744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/>
            <a:r>
              <a:rPr sz="1120" b="1" cap="none">
                <a:solidFill>
                  <a:srgbClr val="666666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The notebook also supports testing a historical day and comparing predicted risk with the observed fire outcome.</a:t>
            </a:r>
            <a:endParaRPr sz="1120" b="1" cap="none">
              <a:solidFill>
                <a:srgbClr val="666666"/>
              </a:solidFill>
              <a:latin typeface="Microsoft YaHei" pitchFamily="2" charset="0"/>
              <a:ea typeface="MiSans" pitchFamily="0" charset="0"/>
              <a:cs typeface="Mi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tl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B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NgCAAAYAwAAvg4AAAoEAAAQAAAAJgAAAAgAAAD//////////zAAAAAUAAAAAAAAAAAA//8AAAEAAAD//wAAAQA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502920"/>
            <a:ext cx="1934210" cy="1536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logo-a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Bn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G4+AADAAQAA6kQAAPQE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0" y="284480"/>
            <a:ext cx="1054100" cy="5207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logo-b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Jg4AABkAQAAqD0AAEAFAAAQ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9199880" y="226060"/>
            <a:ext cx="822960" cy="62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logo-c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LhFAAAcAQAA6kcAAJoFAAAQAAAAJgAAAAgAAAD//////////zAAAAAUAAAAAAAAAAAA//8AAAEAAAD//wAAAQA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11333480" y="180340"/>
            <a:ext cx="356870" cy="7302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logo-d"/>
          <p:cNvPicPr>
            <a:extLst>
              <a:ext uri="smNativeData">
                <pr:smNativeData xmlns:pr="smNativeData" xmlns="smNativeData" val="SMDATA_18_sKi/ahMAAAAlAAAAEQAAAA0AAAAAkAAAAEgAAACQAAAAS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AcAAAA4AAAAAAAAAAAAAAAAAAAA////AAAAAAAAAAAAcgUAAJAHAAByBQAAkAc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+//4BAAAAAAAAAAAAAAAAAAAAAAAAAAAAAAAAAAAAAAAAAAArJVECf39/APP09gPMzMwAwMD/AH9/fwAAAAAAAAAAAAAAAAD///8AAAAAACEAAAAYAAAAFAAAAKgzAABkAQAAyjcAAPAEAAAQAAAAJgAAAAgAAAD//////////zAAAAAUAAAAAAAAAAAA//8AAAEAAAD//wAAAQA="/>
              </a:ext>
            </a:extLst>
          </p:cNvPicPr>
          <p:nvPr/>
        </p:nvPicPr>
        <p:blipFill>
          <a:blip r:embed="rId6"/>
          <a:srcRect l="13940" t="19360" r="13940" b="19360"/>
          <a:stretch>
            <a:fillRect/>
          </a:stretch>
        </p:blipFill>
        <p:spPr>
          <a:xfrm>
            <a:off x="8397240" y="226060"/>
            <a:ext cx="671830" cy="576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itle"/>
          <p:cNvSpPr>
            <a:extLst>
              <a:ext uri="smNativeData">
                <pr:smNativeData xmlns:pr="smNativeData" xmlns="smNativeData" val="SMDATA_16_sKi/ahMAAAAlAAAAZAAAAA0AAAAAUAAAACgAAABQAAAAK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gQAAE4KAAB6PAAA0g0AABAAAAAmAAAACAAAAP//////////MAAAABQAAAAAAAAAAAD//wAAAQAAAP//AAABAA=="/>
              </a:ext>
            </a:extLst>
          </p:cNvSpPr>
          <p:nvPr/>
        </p:nvSpPr>
        <p:spPr>
          <a:xfrm>
            <a:off x="687070" y="1675130"/>
            <a:ext cx="91440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ctr"/>
          <a:lstStyle/>
          <a:p>
            <a:pPr algn="l">
              <a:lnSpc>
                <a:spcPct val="90000"/>
              </a:lnSpc>
            </a:pPr>
            <a:r>
              <a:rPr sz="3350" b="1" cap="none">
                <a:solidFill>
                  <a:srgbClr val="2B2551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Limitations &amp; Next Steps</a:t>
            </a:r>
            <a:endParaRPr sz="3350" cap="none" noProof="1"/>
          </a:p>
        </p:txBody>
      </p:sp>
      <p:sp>
        <p:nvSpPr>
          <p:cNvPr id="8" name="col1-head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JAQAABAJAAAcBIAABAAAAAmAAAACAAAAP//////////MAAAABQAAAAAAAAAAAD//wAAAQAAAP//AAABAA=="/>
              </a:ext>
            </a:extLst>
          </p:cNvSpPr>
          <p:nvPr/>
        </p:nvSpPr>
        <p:spPr>
          <a:xfrm>
            <a:off x="685800" y="2692400"/>
            <a:ext cx="5207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FE2E45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Limitations</a:t>
            </a:r>
            <a:endParaRPr sz="1700" cap="none" noProof="1"/>
          </a:p>
        </p:txBody>
      </p:sp>
      <p:sp>
        <p:nvSpPr>
          <p:cNvPr id="9" name="col1-body"/>
          <p:cNvSpPr>
            <a:extLst>
              <a:ext uri="smNativeData">
                <pr:smNativeData xmlns:pr="smNativeData" xmlns="smNativeData" val="SMDATA_16_sKi/ahMAAAAlAAAAZAAAAA0AAAAAAAAAAAAAAAAAAAAAA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MASAABAJAAASCYAABAAAAAmAAAACAAAAP//////////MAAAABQAAAAAAAAAAAD//wAAAQAAAP//AAABAA=="/>
              </a:ext>
            </a:extLst>
          </p:cNvSpPr>
          <p:nvPr/>
        </p:nvSpPr>
        <p:spPr>
          <a:xfrm>
            <a:off x="685800" y="3048000"/>
            <a:ext cx="5207000" cy="3175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Satellite detections can miss small fires or fires hidden by clouds</a:t>
            </a:r>
            <a:endParaRPr sz="1450" cap="none" noProof="1"/>
          </a:p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The output is a ranking score, not a true probability</a:t>
            </a:r>
            <a:endParaRPr sz="1450" cap="none" noProof="1"/>
          </a:p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Correlated inputs (e.g. daily vs 3-day temperature) share importance credit</a:t>
            </a:r>
            <a:endParaRPr sz="1450" cap="none" noProof="1"/>
          </a:p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Valid for the fire season (May–October) only</a:t>
            </a:r>
            <a:endParaRPr sz="1450" cap="none" noProof="1"/>
          </a:p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 noProof="1">
                <a:solidFill>
                  <a:srgbClr val="000000"/>
                </a:solidFill>
                <a:latin typeface="Microsoft YaHei Light" pitchFamily="2" charset="0"/>
                <a:ea typeface="Microsoft YaHei Light" pitchFamily="2" charset="0"/>
                <a:cs typeface="MiSans" pitchFamily="0" charset="0"/>
              </a:rPr>
              <a:t>Trained on observed weather; live use needs forecast data</a:t>
            </a:r>
            <a:endParaRPr sz="1450" cap="none" noProof="1"/>
          </a:p>
        </p:txBody>
      </p:sp>
      <p:sp>
        <p:nvSpPr>
          <p:cNvPr id="10" name="col2-head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wCYAAJAQAADIRgAAcBIAABAAAAAmAAAACAAAAP//////////MAAAABQAAAAAAAAAAAD//wAAAQAAAP//AAABAA=="/>
              </a:ext>
            </a:extLst>
          </p:cNvSpPr>
          <p:nvPr/>
        </p:nvSpPr>
        <p:spPr>
          <a:xfrm>
            <a:off x="6299200" y="2692400"/>
            <a:ext cx="5207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l">
              <a:lnSpc>
                <a:spcPct val="120000"/>
              </a:lnSpc>
            </a:pPr>
            <a:r>
              <a:rPr sz="1700" b="1" cap="none" noProof="1">
                <a:solidFill>
                  <a:srgbClr val="4617DE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Next steps</a:t>
            </a:r>
            <a:endParaRPr sz="1700" cap="none" noProof="1"/>
          </a:p>
        </p:txBody>
      </p:sp>
      <p:sp>
        <p:nvSpPr>
          <p:cNvPr id="11" name="col2-body"/>
          <p:cNvSpPr>
            <a:extLst>
              <a:ext uri="smNativeData">
                <pr:smNativeData xmlns:pr="smNativeData" xmlns="smNativeData" val="SMDATA_16_sKi/ahMAAAAlAAAAZAAAAA0AAAAAUAAAACgAAABQAAAAKAAAAAAAAAAA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wCYAAMASAADIRgAASCYAABAAAAAmAAAACAAAAP//////////MAAAABQAAAAAAAAAAAD//wAAAQAAAP//AAABAA=="/>
              </a:ext>
            </a:extLst>
          </p:cNvSpPr>
          <p:nvPr/>
        </p:nvSpPr>
        <p:spPr>
          <a:xfrm>
            <a:off x="6299200" y="3048000"/>
            <a:ext cx="5207000" cy="3175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25400" rIns="50800" bIns="25400" numCol="1" spcCol="215900" anchor="t"/>
          <a:lstStyle/>
          <a:p>
            <a:pPr algn="l">
              <a:lnSpc>
                <a:spcPct val="130000"/>
              </a:lnSpc>
              <a:spcBef>
                <a:spcPts val="600"/>
              </a:spcBef>
              <a:buChar char="•"/>
            </a:pPr>
            <a:r>
              <a:rPr sz="14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Add vegetation / fuel load and land-cover data</a:t>
            </a:r>
            <a:br/>
            <a:r>
              <a:rPr sz="14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Calibrate scores into real probabilities</a:t>
            </a:r>
            <a:br/>
            <a:r>
              <a:rPr sz="14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Extend beyond the coast to other Syrian regions</a:t>
            </a:r>
            <a:br/>
            <a:r>
              <a:rPr sz="14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Connect a daily forecast feed for live risk alerts</a:t>
            </a:r>
            <a:br/>
            <a:r>
              <a:rPr sz="1450" cap="none">
                <a:solidFill>
                  <a:srgbClr val="000000"/>
                </a:solidFill>
                <a:latin typeface="Microsoft YaHei" pitchFamily="2" charset="0"/>
                <a:ea typeface="MiSans" pitchFamily="0" charset="0"/>
                <a:cs typeface="MiSans" pitchFamily="0" charset="0"/>
              </a:rPr>
              <a:t>Validate against civil-defence fire records</a:t>
            </a:r>
            <a:endParaRPr sz="1450" cap="none" noProof="1"/>
          </a:p>
        </p:txBody>
      </p:sp>
      <p:sp>
        <p:nvSpPr>
          <p:cNvPr id="12" name="thanks"/>
          <p:cNvSpPr>
            <a:extLst>
              <a:ext uri="smNativeData">
                <pr:smNativeData xmlns:pr="smNativeData" xmlns="smNativeData" val="SMDATA_16_sKi/ahMAAAAlAAAAZAAAAA0AAAAAAAAAAAAAAAAAAAAAAAAAAAAAAAABAAAAAAAAAAEAAABQAAAAAAAAAAAA4D8AAAAAAADgPwAAAAAAAOA/AAAAAAAA4D8AAAAAAADgPwAAAAAAAOA/AAAAAAAA4D8AAAAAAADgPwAAAAAAAOA/AAAAAAAA4D8CAAAAjAAAAAAAAAAAAAAARHLEDP7//ggAAAAAAAAAAAAAAAAAAAAAAAAAAAAAAAAAAAAAZAAAAAEAAABAAAAAAAAAAAAAAAA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7//gEAAAAAAAAAAAAAAAAAAAAAAAAAAAAAAAAAAAAAAAAAACslUQJ/f38A8/T2A8zMzADAwP8Af39/AAAAAAAAAAAAAAAAAAAAAAAAAAAAIQAAABgAAAAUAAAAOAQAAHAmAADIRgAAeCgAAAAAAAAmAAAACAAAAP//////////MAAAABQAAAAAAAAAAAD//wAAAQAAAP//AAABAA=="/>
              </a:ext>
            </a:extLst>
          </p:cNvSpPr>
          <p:nvPr/>
        </p:nvSpPr>
        <p:spPr>
          <a:xfrm>
            <a:off x="685800" y="6248400"/>
            <a:ext cx="10820400" cy="33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>
              <a:lnSpc>
                <a:spcPct val="120000"/>
              </a:lnSpc>
            </a:pPr>
            <a:r>
              <a:rPr sz="1600" b="1" cap="none" noProof="1">
                <a:solidFill>
                  <a:srgbClr val="FE2E45"/>
                </a:solidFill>
                <a:latin typeface="Microsoft YaHei" pitchFamily="2" charset="0"/>
                <a:ea typeface="Microsoft YaHei" pitchFamily="2" charset="0"/>
                <a:cs typeface="MiSans" pitchFamily="0" charset="0"/>
              </a:rPr>
              <a:t>Thank you</a:t>
            </a:r>
            <a:endParaRPr sz="1600" cap="none" noProof="1"/>
          </a:p>
        </p:txBody>
      </p:sp>
      <p:sp>
        <p:nvSpPr>
          <p:cNvPr id="13" name="footer-bar"/>
          <p:cNvSpPr>
            <a:extLst>
              <a:ext uri="smNativeData">
                <pr:smNativeData xmlns:pr="smNativeData" xmlns="smNativeData" val="SMDATA_16_sKi/ahMAAAAlAAAAZAAAAA0AAAAAkAAAAEgAAACQAAAASAAAAAAAAAAAAAAAAAAAAAEAAABQAAAAAAAAAAAA4D8AAAAAAADgPwAAAAAAAOA/AAAAAAAA4D8AAAAAAADgPwAAAAAAAOA/AAAAAAAA4D8AAAAAAADgPwAAAAAAAOA/AAAAAAAA4D8CAAAAjAAAAAEAAAAAAAAARhfeAP7//ggAAAAAAAAAAAAAAAAAAAAAAAAAAAAAAAAAAAAAeAAAAAEAAABAAAAAAAAAAAAAAABaAAAAAAAAAAAAAAAAAAAAAAAAAAAAAAAAAAAAAAAAAAAAAAAAAAAAAAAAAAAAAAAAAAAAAAAAAAAAAAAAAAAAAAAAAAAAAAAAAAAAFAAAADwAAAAAAAAAAAAAACslUQkUAAAAAQAAABQAAAAUAAAAFAAAAAEAAAAAAAAAZAAAAGQAAAAAAAAAZAAAAGQAAAAVAAAAYAAAAAAAAAAAAAAADwAAACADAAAAAAAAAAAAAAEAAACgMgAAVgcAAKr4//8BAAAAf39/AAEAAABkAAAAAAAAABQAAABAHwAAAAAAACYAAAAAAAAAwOD//wAAAAAmAAAAZAAAABYAAABMAAAAAAAAAAAAAAAEAAAAAAAAAAEAAADz9P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feAP7//gEAAAAAAAAAAAAAAAAAAAAAAAAAAAAAAAAAAAAAAAAAACslUQJ/f38A8/T2A8zMzADAwP8Af39/AAAAAAAAAAAAAAAAAAAAAAAAAAAAIQAAABgAAAAUAAAA/P////4oAAAiSwAAfioAABAAAAAmAAAACAAAAP//////////MAAAABQAAAAAAAAAAAD//wAAAQAAAP//AAABAA=="/>
              </a:ext>
            </a:extLst>
          </p:cNvSpPr>
          <p:nvPr/>
        </p:nvSpPr>
        <p:spPr>
          <a:xfrm>
            <a:off x="-2540" y="6663690"/>
            <a:ext cx="12216130" cy="243840"/>
          </a:xfrm>
          <a:prstGeom prst="rect">
            <a:avLst/>
          </a:prstGeom>
          <a:solidFill>
            <a:srgbClr val="4617DE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2B2551"/>
      </a:dk1>
      <a:lt1>
        <a:srgbClr val="FEFFFE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2B2551"/>
        </a:dk1>
        <a:lt1>
          <a:srgbClr val="FEFFFE"/>
        </a:lt1>
        <a:dk2>
          <a:srgbClr val="1F2937"/>
        </a:dk2>
        <a:lt2>
          <a:srgbClr val="F3F4F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Syria FireWatch — Group 1</dc:title>
  <dc:subject/>
  <dc:creator/>
  <cp:keywords/>
  <dc:description/>
  <cp:lastModifiedBy>gazal</cp:lastModifiedBy>
  <cp:revision>0</cp:revision>
  <dcterms:created xsi:type="dcterms:W3CDTF">2026-10-02T15:34:39Z</dcterms:created>
  <dcterms:modified xsi:type="dcterms:W3CDTF">2026-10-02T12:50:56Z</dcterms:modified>
</cp:coreProperties>
</file>